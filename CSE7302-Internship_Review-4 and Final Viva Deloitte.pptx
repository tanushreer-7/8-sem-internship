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9" r:id="rId2"/>
    <p:sldId id="270" r:id="rId3"/>
    <p:sldId id="261" r:id="rId4"/>
    <p:sldId id="262" r:id="rId5"/>
    <p:sldId id="263" r:id="rId6"/>
    <p:sldId id="264" r:id="rId7"/>
    <p:sldId id="265" r:id="rId8"/>
    <p:sldId id="271" r:id="rId9"/>
    <p:sldId id="272" r:id="rId10"/>
    <p:sldId id="273" r:id="rId11"/>
    <p:sldId id="281" r:id="rId12"/>
    <p:sldId id="282" r:id="rId13"/>
    <p:sldId id="274" r:id="rId14"/>
    <p:sldId id="275" r:id="rId15"/>
    <p:sldId id="276" r:id="rId16"/>
    <p:sldId id="277" r:id="rId17"/>
    <p:sldId id="283" r:id="rId18"/>
    <p:sldId id="278" r:id="rId19"/>
    <p:sldId id="279" r:id="rId20"/>
    <p:sldId id="280" r:id="rId21"/>
    <p:sldId id="267" r:id="rId22"/>
    <p:sldId id="268" r:id="rId23"/>
    <p:sldId id="26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2574" autoAdjust="0"/>
    <p:restoredTop sz="94660"/>
  </p:normalViewPr>
  <p:slideViewPr>
    <p:cSldViewPr snapToGrid="0">
      <p:cViewPr varScale="1">
        <p:scale>
          <a:sx n="73" d="100"/>
          <a:sy n="73" d="100"/>
        </p:scale>
        <p:origin x="-720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pPr/>
              <a:t>22/04/2026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anushreer-7/8-sem-internship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Sandhya L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 - PSCS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of </a:t>
            </a: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i="0" u="none" strike="noStrike" cap="none" dirty="0" smtClean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endParaRPr lang="en-US" sz="2000" b="1" i="0" u="none" strike="noStrike" cap="none" dirty="0" smtClean="0"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 smtClean="0">
                <a:latin typeface="Cambria" pitchFamily="18" charset="0"/>
                <a:ea typeface="Cambria" pitchFamily="18" charset="0"/>
                <a:cs typeface="Times New Roman" pitchFamily="18" charset="0"/>
              </a:rPr>
              <a:t>Dr. S. </a:t>
            </a:r>
            <a:r>
              <a:rPr lang="en-US" sz="2000" b="1" dirty="0" smtClean="0">
                <a:latin typeface="Cambria" pitchFamily="18" charset="0"/>
                <a:ea typeface="Cambria" pitchFamily="18" charset="0"/>
                <a:cs typeface="Times New Roman" pitchFamily="18" charset="0"/>
              </a:rPr>
              <a:t>Pravinthraja</a:t>
            </a:r>
            <a:endParaRPr lang="en-US" sz="2000" b="1" dirty="0" smtClean="0">
              <a:solidFill>
                <a:schemeClr val="accent1"/>
              </a:solidFill>
              <a:latin typeface="Cambria" pitchFamily="18" charset="0"/>
              <a:ea typeface="Cambria" pitchFamily="18" charset="0"/>
              <a:cs typeface="Times New Roman" pitchFamily="18" charset="0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 smtClean="0">
                <a:latin typeface="Cambria" pitchFamily="18" charset="0"/>
                <a:ea typeface="Cambria" pitchFamily="18" charset="0"/>
                <a:cs typeface="Times New Roman" pitchFamily="18" charset="0"/>
              </a:rPr>
              <a:t>Mrs. Nisha Robin Rohit </a:t>
            </a:r>
            <a:endParaRPr lang="en-US" sz="2000" b="1" i="0" u="none" strike="noStrike" cap="none" dirty="0" smtClean="0">
              <a:solidFill>
                <a:schemeClr val="accent1"/>
              </a:solidFill>
              <a:latin typeface="Cambria" pitchFamily="18" charset="0"/>
              <a:ea typeface="Cambria" pitchFamily="18" charset="0"/>
              <a:cs typeface="Times New Roman" pitchFamily="18" charset="0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Internship Coordinator: </a:t>
            </a:r>
            <a:r>
              <a:rPr lang="en-US" sz="2000" b="1" dirty="0" smtClean="0">
                <a:latin typeface="Cambria" pitchFamily="18" charset="0"/>
                <a:ea typeface="Cambria" pitchFamily="18" charset="0"/>
              </a:rPr>
              <a:t>Dr. Geetha A </a:t>
            </a:r>
            <a:endParaRPr lang="en-US" sz="2000" b="1" dirty="0" smtClean="0">
              <a:latin typeface="Cambria" pitchFamily="18" charset="0"/>
              <a:ea typeface="Cambria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Review-4 Presentation </a:t>
            </a:r>
            <a:b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ITDA Audit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/>
            </a:r>
            <a:b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xmlns="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xmlns="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TANUSHREE R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20221CBD0029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8CBD01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0667245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377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</a:t>
            </a: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</a:t>
            </a: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629404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9823" y="1306288"/>
            <a:ext cx="10515600" cy="4362992"/>
          </a:xfrm>
        </p:spPr>
        <p:txBody>
          <a:bodyPr>
            <a:normAutofit lnSpcReduction="1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Company: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Deloitte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Haskins &amp; Sells Chartered Accountants LLP.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Function: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Audit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&amp; Assurance (IT, Data &amp; Analytics - ITDA).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Role: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Capability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&amp; Enhancement Center (CEC) focus.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Core Business: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Global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leader in providing professional services, including audit, consulting, and risk advisory.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5581389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7247"/>
            <a:ext cx="10515600" cy="4058194"/>
          </a:xfrm>
        </p:spPr>
        <p:txBody>
          <a:bodyPr>
            <a:norm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Domain: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IT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Audit (focus on Information Technology General Controls - ITGC).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Environment: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Enterprise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Resource Planning (ERP) systems (SAP, HANA, LINUX).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Core Tools: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		Deloitte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Omnia: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Centralized cloud-based audit ecosystem.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ACTT: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Automated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Control Testing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Tool – Fore Data Processing.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Advanced Excel: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Logic-based sampling with Sampling Frequency.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6586821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7247"/>
            <a:ext cx="10515600" cy="3753393"/>
          </a:xfrm>
        </p:spPr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Department: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IT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Data &amp; Analytics (ITDA) - Audit &amp; Assurance.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Structure: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Worked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under a designated Manager within the CEC team.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Collaboration: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Partnered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with various Location Managers and Single Points of Contact (SPOCs) for evidence collection and system validation.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5106966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54184"/>
            <a:ext cx="10515600" cy="4058194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Data Integrity: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Heavy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reliance on client-provided raw data quality.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Business Justification: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Interpreting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complex client explanations for identified control gaps.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Resource Management: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Managing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strict, time-bound engagement deadlines and archival requirements.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Technical Barriers: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Handling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system downtime in SAP/Linux environments during data extraction.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2061569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8870"/>
            <a:ext cx="10515600" cy="4058194"/>
          </a:xfrm>
        </p:spPr>
        <p:txBody>
          <a:bodyPr>
            <a:norm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System Management: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Standardize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 digitize the audit lifecycle via Deloitte Omnia.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Security: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Validate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Access Security (Provisioning/SoD)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across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SAP, HANA, and LINUX.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Analysis: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Apply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quantitative sampling (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UAM,CM and RC)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using Excel-based automated logic.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Behavior: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Monitor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system logs (SM37, UNIX logs) for failed jobs and unauthorized executions.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Deployment: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Execute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DQA Review roadmap for accurate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workpaper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archival.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5163347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5138" y="1275807"/>
            <a:ext cx="10515600" cy="405819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Key </a:t>
            </a:r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Research:</a:t>
            </a:r>
          </a:p>
          <a:p>
            <a:pPr>
              <a:buNone/>
            </a:pPr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Leveraged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methodologies from </a:t>
            </a:r>
            <a:r>
              <a:rPr lang="en-US" sz="2500" i="1" dirty="0" smtClean="0">
                <a:latin typeface="Times New Roman" pitchFamily="18" charset="0"/>
                <a:cs typeface="Times New Roman" pitchFamily="18" charset="0"/>
              </a:rPr>
              <a:t>Auditing and GRC Automation in </a:t>
            </a:r>
            <a:r>
              <a:rPr lang="en-US" sz="2500" i="1" dirty="0" smtClean="0">
                <a:latin typeface="Times New Roman" pitchFamily="18" charset="0"/>
                <a:cs typeface="Times New Roman" pitchFamily="18" charset="0"/>
              </a:rPr>
              <a:t>SAP</a:t>
            </a:r>
            <a:endParaRPr lang="en-US" sz="25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Key Findings: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Automated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internal control testing improves detection rates by 20–70% over manual methods.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Shift toward "Full Population Auditing" using ML vs. traditional manual sampling.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Real-time GRC integration reduces audit burden by approximately 20 working days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5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9729277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Approach: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Data-driven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audit analytics using the Deloitte Omnia ecosystem.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Methodology: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Four-stage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Audit Lifecycle (Planning, Fieldwork, Concluding, Archiving).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Testing Strategy: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Dual-phase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validation (Design &amp; Implementation testing followed by Operating Effectiveness testing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5524770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1933"/>
            <a:ext cx="10515600" cy="4058194"/>
          </a:xfrm>
        </p:spPr>
        <p:txBody>
          <a:bodyPr>
            <a:normAutofit fontScale="92500" lnSpcReduction="20000"/>
          </a:bodyPr>
          <a:lstStyle/>
          <a:p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Manual Bottlenecks: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5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	Previous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audits relied on non-structured MS Office files and fragmented workflows.</a:t>
            </a:r>
          </a:p>
          <a:p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Limited Visibility: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5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	Disconnected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tracking systems led to poor visibility into engagement files.</a:t>
            </a:r>
          </a:p>
          <a:p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Inconsistency: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5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	Lack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of standardized sampling led to potential errors in detecting Segregation of Duties (SoD) conflicts.</a:t>
            </a:r>
          </a:p>
          <a:p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Efficiency: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5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	Manual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extraction of SAP/LINUX logs (SM50, SM36) was time-consuming and prone to human error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5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4505980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571" y="431074"/>
            <a:ext cx="10515600" cy="992777"/>
          </a:xfrm>
        </p:spPr>
        <p:txBody>
          <a:bodyPr>
            <a:normAutofit/>
          </a:bodyPr>
          <a:lstStyle/>
          <a:p>
            <a:r>
              <a:rPr lang="en-IN" sz="35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  <a:endParaRPr lang="en-US" sz="3500" dirty="0"/>
          </a:p>
        </p:txBody>
      </p:sp>
      <p:pic>
        <p:nvPicPr>
          <p:cNvPr id="6" name="Content Placeholder 5" descr="Request-Response Communication.drawio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0601" y="1632290"/>
            <a:ext cx="6516546" cy="4089242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11</a:t>
            </a:fld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flow chart.drawio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8149" y="1162594"/>
            <a:ext cx="5795333" cy="4596358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12</a:t>
            </a:fld>
            <a:endParaRPr lang="en-IN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20634" y="325937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1121"/>
            <a:ext cx="10515600" cy="4058194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Input: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Raw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system logs, Audit Rule Templates, Client Policies.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Process: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ACTT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engine for data ingestion, validation, and systematic sampling.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Output: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Populated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report files, RFI documentation, and 2342S Deficiency Reports.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Security: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Multi-Factor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Authentication (MFA) and TLS-encrypted data transfer via D-connect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1286960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54184"/>
            <a:ext cx="10515600" cy="4058194"/>
          </a:xfrm>
        </p:spPr>
        <p:txBody>
          <a:bodyPr>
            <a:normAutofit lnSpcReduction="10000"/>
          </a:bodyPr>
          <a:lstStyle/>
          <a:p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Efficiency: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5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	Automated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testing reduced manual intervention in sampling/validation.</a:t>
            </a:r>
          </a:p>
          <a:p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Accuracy: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5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	100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% sample selection accuracy in observed testing via advanced logic.</a:t>
            </a:r>
          </a:p>
          <a:p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Transparency: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5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	Real-time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monitoring of engagement diagnostics via Omnia/ITS Tracker.</a:t>
            </a:r>
          </a:p>
          <a:p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Sustainability: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5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	Shift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to paperless, cloud-based auditing reducing physical waste and travel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5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2466521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Methodology: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V-Model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(Validation &amp; Verification).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Functional View: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Organized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into 6 groups: Device, Communication, Services, Management, Security, and Application.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Logical Flow: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Raw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 -&gt; Rule Templates -&gt; ACTT Processing -&gt; Deficiency Report (2342S) -&gt;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Workpaper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Documentation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3654325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lnSpcReduction="1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Rule Templates: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Standardized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server parameters (SAP version, T-codes) for ACTT processing.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Script Execution: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Processing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client files through ACTT to identify authorized vs. unauthorized access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Integration: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Combining all the testing procedures with received valid evidences.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2026174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block diagram.drawio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6760" y="1661102"/>
            <a:ext cx="10515600" cy="3870487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17</a:t>
            </a:fld>
            <a:endParaRPr lang="en-IN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b="1" dirty="0" smtClean="0"/>
              <a:t>Test Points: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		By referring sampling procedure</a:t>
            </a:r>
            <a:endParaRPr lang="en-US" dirty="0" smtClean="0"/>
          </a:p>
          <a:p>
            <a:r>
              <a:rPr lang="en-US" b="1" dirty="0" smtClean="0"/>
              <a:t>Validation:</a:t>
            </a:r>
            <a:r>
              <a:rPr lang="en-US" dirty="0" smtClean="0"/>
              <a:t>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	Used </a:t>
            </a:r>
            <a:r>
              <a:rPr lang="en-US" dirty="0" smtClean="0"/>
              <a:t>Power BI runs to verify </a:t>
            </a:r>
            <a:r>
              <a:rPr lang="en-US" dirty="0" smtClean="0"/>
              <a:t>the changes.</a:t>
            </a:r>
            <a:endParaRPr lang="en-US" dirty="0" smtClean="0"/>
          </a:p>
          <a:p>
            <a:r>
              <a:rPr lang="en-US" b="1" dirty="0" smtClean="0"/>
              <a:t>Results:</a:t>
            </a:r>
            <a:r>
              <a:rPr lang="en-US" dirty="0" smtClean="0"/>
              <a:t>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	Observed </a:t>
            </a:r>
            <a:r>
              <a:rPr lang="en-US" dirty="0" smtClean="0"/>
              <a:t>matches between design/expected values and actual test results (100% accuracy).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5080511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algn="just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Successfully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executed ITGC testing using a standardized, automated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V-Model approach. Validated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access security and change management controls; achieved zero unresolved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alerts.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Transition to Full Population Auditing and integrate ML-based predictive analytics for SoD conflict detection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0723990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5138" y="1419498"/>
            <a:ext cx="10515600" cy="35051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[1]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Oko-Odion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C. and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Udoh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O.R., 2024. Leveraging technology in internal audit processes for streamlined management and risk oversight. International Journal of Science and Research Archive, 13(2), pp.3077-3100.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2] . El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Arass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M.,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Tikito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I. and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Souissi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N., 2018, June. An audit framework for data lifecycles in a big data context. In 2018 International Conference on Selected Topics in Mobile and Wireless Networking (MoWNeT) (pp. 1-5). IEEE.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3]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Chuprunov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M., Bachmann, R. and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Nowatzki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A., 2013. Auditing and GRC Automation in SAP (pp. I-XXXII). Berlin: Springer.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349398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560" y="2132451"/>
            <a:ext cx="10515600" cy="1263892"/>
          </a:xfrm>
        </p:spPr>
        <p:txBody>
          <a:bodyPr/>
          <a:lstStyle/>
          <a:p>
            <a:pPr algn="ctr">
              <a:buNone/>
            </a:pPr>
            <a:r>
              <a:rPr lang="en-US" dirty="0" smtClean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github.com/tanushreer-7/8-sem-internship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2956213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 smtClean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22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975465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 smtClean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6966059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7038</TotalTime>
  <Words>403</Words>
  <Application>Microsoft Office PowerPoint</Application>
  <PresentationFormat>Custom</PresentationFormat>
  <Paragraphs>186</Paragraphs>
  <Slides>23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Slide 1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System Requirements</vt:lpstr>
      <vt:lpstr>System Requirements</vt:lpstr>
      <vt:lpstr>Advantages of Proposed System/Work</vt:lpstr>
      <vt:lpstr>System Design</vt:lpstr>
      <vt:lpstr>System Implementation</vt:lpstr>
      <vt:lpstr>System Implementation</vt:lpstr>
      <vt:lpstr>System Testing</vt:lpstr>
      <vt:lpstr>Conclusion</vt:lpstr>
      <vt:lpstr>References</vt:lpstr>
      <vt:lpstr>Github Link</vt:lpstr>
      <vt:lpstr>Slide 22</vt:lpstr>
      <vt:lpstr>Slide 23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user</cp:lastModifiedBy>
  <cp:revision>726</cp:revision>
  <dcterms:created xsi:type="dcterms:W3CDTF">2022-10-14T07:18:17Z</dcterms:created>
  <dcterms:modified xsi:type="dcterms:W3CDTF">2026-04-22T18:05:48Z</dcterms:modified>
</cp:coreProperties>
</file>